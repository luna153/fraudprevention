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8"/>
  </p:notesMasterIdLst>
  <p:handoutMasterIdLst>
    <p:handoutMasterId r:id="rId9"/>
  </p:handoutMasterIdLst>
  <p:sldIdLst>
    <p:sldId id="2265" r:id="rId2"/>
    <p:sldId id="2270" r:id="rId3"/>
    <p:sldId id="2271" r:id="rId4"/>
    <p:sldId id="2268" r:id="rId5"/>
    <p:sldId id="2272" r:id="rId6"/>
    <p:sldId id="2273" r:id="rId7"/>
  </p:sldIdLst>
  <p:sldSz cx="11949113" cy="6721475"/>
  <p:notesSz cx="6807200" cy="9939338"/>
  <p:custDataLst>
    <p:tags r:id="rId10"/>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85"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5CAE"/>
    <a:srgbClr val="333333"/>
    <a:srgbClr val="FFFFFF"/>
    <a:srgbClr val="7ED1BD"/>
    <a:srgbClr val="F9DBEB"/>
    <a:srgbClr val="FDEDB9"/>
    <a:srgbClr val="F55D85"/>
    <a:srgbClr val="E1B5F1"/>
    <a:srgbClr val="BFBFBF"/>
    <a:srgbClr val="FFF3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86706" autoAdjust="0"/>
  </p:normalViewPr>
  <p:slideViewPr>
    <p:cSldViewPr snapToGrid="0">
      <p:cViewPr>
        <p:scale>
          <a:sx n="200" d="100"/>
          <a:sy n="200" d="100"/>
        </p:scale>
        <p:origin x="-630" y="144"/>
      </p:cViewPr>
      <p:guideLst>
        <p:guide orient="horz" pos="2185"/>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131"/>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52119"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defTabSz="990200">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55083" y="0"/>
            <a:ext cx="2952118"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81C88EAB-EE0A-4154-B212-2925DF29A372}" type="datetime1">
              <a:rPr lang="zh-TW" altLang="en-US"/>
              <a:pPr>
                <a:defRPr/>
              </a:pPr>
              <a:t>2024/4/18</a:t>
            </a:fld>
            <a:endParaRPr lang="en-US" altLang="zh-TW"/>
          </a:p>
        </p:txBody>
      </p:sp>
      <p:sp>
        <p:nvSpPr>
          <p:cNvPr id="7172" name="Rectangle 4"/>
          <p:cNvSpPr>
            <a:spLocks noGrp="1" noChangeArrowheads="1"/>
          </p:cNvSpPr>
          <p:nvPr>
            <p:ph type="ftr" sz="quarter" idx="2"/>
          </p:nvPr>
        </p:nvSpPr>
        <p:spPr bwMode="auto">
          <a:xfrm>
            <a:off x="0" y="9441895"/>
            <a:ext cx="2952119"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defTabSz="990200">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55083" y="9441895"/>
            <a:ext cx="2952118"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7188" y="1281113"/>
            <a:ext cx="15097126" cy="849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15529" y="367123"/>
            <a:ext cx="5653060" cy="32898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5797419" y="112103"/>
            <a:ext cx="804707"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90200">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60029" y="9557912"/>
            <a:ext cx="542097" cy="184356"/>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90200">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5530" y="1511403"/>
            <a:ext cx="52047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1550" tIns="45775" rIns="91550" bIns="45775"/>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935" y="647090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852" y="293095"/>
            <a:ext cx="1785770" cy="556780"/>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C7F84E85-A229-413E-97DA-8E222922118E}"/>
              </a:ext>
            </a:extLst>
          </p:cNvPr>
          <p:cNvSpPr>
            <a:spLocks noGrp="1"/>
          </p:cNvSpPr>
          <p:nvPr>
            <p:ph type="title"/>
          </p:nvPr>
        </p:nvSpPr>
        <p:spPr>
          <a:xfrm>
            <a:off x="2044392" y="2259106"/>
            <a:ext cx="7996871" cy="703262"/>
          </a:xfrm>
        </p:spPr>
        <p:txBody>
          <a:bodyPr/>
          <a:lstStyle/>
          <a:p>
            <a:pPr marL="0" marR="0" lvl="0" indent="0" defTabSz="914400" rtl="0" eaLnBrk="1" fontAlgn="base" latinLnBrk="0" hangingPunct="1">
              <a:lnSpc>
                <a:spcPts val="6500"/>
              </a:lnSpc>
              <a:spcBef>
                <a:spcPct val="0"/>
              </a:spcBef>
              <a:spcAft>
                <a:spcPct val="0"/>
              </a:spcAft>
              <a:tabLst/>
              <a:defRPr/>
            </a:pPr>
            <a:r>
              <a:rPr kumimoji="0" lang="zh-TW"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永豐</a:t>
            </a:r>
            <a:r>
              <a:rPr lang="zh-TW" altLang="en-US" sz="3200" kern="1200" dirty="0">
                <a:solidFill>
                  <a:prstClr val="black"/>
                </a:solidFill>
                <a:latin typeface="Microsoft YaHei" panose="020B0503020204020204" pitchFamily="34" charset="-122"/>
                <a:ea typeface="Microsoft YaHei" panose="020B0503020204020204" pitchFamily="34" charset="-122"/>
                <a:cs typeface="+mn-cs"/>
              </a:rPr>
              <a:t>防詐專區網頁切版調整</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318621-27AE-B3FB-249F-4B04B2376F72}"/>
              </a:ext>
            </a:extLst>
          </p:cNvPr>
          <p:cNvSpPr>
            <a:spLocks noGrp="1"/>
          </p:cNvSpPr>
          <p:nvPr>
            <p:ph type="title"/>
          </p:nvPr>
        </p:nvSpPr>
        <p:spPr>
          <a:xfrm>
            <a:off x="340849" y="174551"/>
            <a:ext cx="11116727" cy="622580"/>
          </a:xfrm>
        </p:spPr>
        <p:txBody>
          <a:bodyPr/>
          <a:lstStyle/>
          <a:p>
            <a:r>
              <a:rPr lang="zh-TW" altLang="en-US" sz="2800" b="1" kern="1200" dirty="0">
                <a:cs typeface="+mn-cs"/>
              </a:rPr>
              <a:t>需求</a:t>
            </a:r>
          </a:p>
        </p:txBody>
      </p:sp>
      <p:sp>
        <p:nvSpPr>
          <p:cNvPr id="3" name="文字方塊 2">
            <a:extLst>
              <a:ext uri="{FF2B5EF4-FFF2-40B4-BE49-F238E27FC236}">
                <a16:creationId xmlns:a16="http://schemas.microsoft.com/office/drawing/2014/main" id="{C8563743-D4AC-50B4-E288-2B4D948E3E2E}"/>
              </a:ext>
            </a:extLst>
          </p:cNvPr>
          <p:cNvSpPr txBox="1"/>
          <p:nvPr/>
        </p:nvSpPr>
        <p:spPr>
          <a:xfrm>
            <a:off x="340849" y="1193140"/>
            <a:ext cx="10513180" cy="1569660"/>
          </a:xfrm>
          <a:prstGeom prst="rect">
            <a:avLst/>
          </a:prstGeom>
          <a:noFill/>
        </p:spPr>
        <p:txBody>
          <a:bodyPr wrap="square">
            <a:spAutoFit/>
          </a:bodyPr>
          <a:lstStyle/>
          <a:p>
            <a:pPr marL="342900" lvl="0" indent="-342900">
              <a:buFont typeface="+mj-lt"/>
              <a:buAutoNum type="arabicPeriod"/>
              <a:tabLst>
                <a:tab pos="457200" algn="l"/>
              </a:tabLst>
            </a:pPr>
            <a:r>
              <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rPr>
              <a:t>本次活動網頁網址：</a:t>
            </a:r>
            <a:r>
              <a:rPr lang="zh-TW" altLang="en-US" sz="2400" kern="100" dirty="0">
                <a:solidFill>
                  <a:srgbClr val="FF0000"/>
                </a:solidFill>
                <a:latin typeface="Calibri" panose="020F0502020204030204" pitchFamily="34" charset="0"/>
                <a:ea typeface="微軟正黑體" panose="020B0604030504040204" pitchFamily="34" charset="-120"/>
                <a:cs typeface="Times New Roman" panose="02020603050405020304" pitchFamily="18" charset="0"/>
              </a:rPr>
              <a:t>待補</a:t>
            </a:r>
            <a:endParaRPr lang="en-US" altLang="zh-TW" sz="2400" kern="100" dirty="0">
              <a:solidFill>
                <a:srgbClr val="FF0000"/>
              </a:solidFill>
              <a:latin typeface="Calibri" panose="020F0502020204030204" pitchFamily="34" charset="0"/>
              <a:ea typeface="微軟正黑體" panose="020B0604030504040204" pitchFamily="34" charset="-120"/>
              <a:cs typeface="Times New Roman" panose="02020603050405020304" pitchFamily="18" charset="0"/>
            </a:endParaRPr>
          </a:p>
          <a:p>
            <a:pPr marL="342900" lvl="0" indent="-342900">
              <a:buFont typeface="+mj-lt"/>
              <a:buAutoNum type="arabicPeriod"/>
              <a:tabLst>
                <a:tab pos="457200" algn="l"/>
              </a:tabLst>
            </a:pP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title/</a:t>
            </a:r>
            <a:r>
              <a:rPr lang="en-US" altLang="zh-TW" sz="2400" kern="100" dirty="0" err="1">
                <a:latin typeface="Calibri" panose="020F0502020204030204" pitchFamily="34" charset="0"/>
                <a:ea typeface="微軟正黑體" panose="020B0604030504040204" pitchFamily="34" charset="-120"/>
                <a:cs typeface="Times New Roman" panose="02020603050405020304" pitchFamily="18" charset="0"/>
              </a:rPr>
              <a:t>og</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-title</a:t>
            </a:r>
            <a:r>
              <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永豐銀行防詐騙專區</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快豐鎖</a:t>
            </a:r>
            <a:endPar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endParaRPr>
          </a:p>
          <a:p>
            <a:pPr marL="342900" lvl="0" indent="-342900">
              <a:buFont typeface="+mj-lt"/>
              <a:buAutoNum type="arabicPeriod"/>
              <a:tabLst>
                <a:tab pos="457200" algn="l"/>
              </a:tabLst>
            </a:pPr>
            <a:r>
              <a:rPr lang="en-US" altLang="zh-TW" sz="2400" kern="100" dirty="0" err="1">
                <a:latin typeface="Calibri" panose="020F0502020204030204" pitchFamily="34" charset="0"/>
                <a:ea typeface="微軟正黑體" panose="020B0604030504040204" pitchFamily="34" charset="-120"/>
                <a:cs typeface="Times New Roman" panose="02020603050405020304" pitchFamily="18" charset="0"/>
              </a:rPr>
              <a:t>descripition</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r>
              <a:rPr lang="en-US" altLang="zh-TW" sz="2400" kern="100" dirty="0" err="1">
                <a:latin typeface="Calibri" panose="020F0502020204030204" pitchFamily="34" charset="0"/>
                <a:ea typeface="微軟正黑體" panose="020B0604030504040204" pitchFamily="34" charset="-120"/>
                <a:cs typeface="Times New Roman" panose="02020603050405020304" pitchFamily="18" charset="0"/>
              </a:rPr>
              <a:t>og-descripition</a:t>
            </a:r>
            <a:r>
              <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endPar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endParaRPr>
          </a:p>
          <a:p>
            <a:pPr lvl="0">
              <a:tabLst>
                <a:tab pos="457200" algn="l"/>
              </a:tabLst>
            </a:pP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     </a:t>
            </a: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警覺詐騙，保護自己！遇到詐騙務必斷！捨！釐！遠離詐騙集團魔掌。</a:t>
            </a:r>
            <a:endPar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429424276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07FFCCD-7DF8-4056-0FE4-F7B1036E2563}"/>
              </a:ext>
            </a:extLst>
          </p:cNvPr>
          <p:cNvSpPr txBox="1"/>
          <p:nvPr/>
        </p:nvSpPr>
        <p:spPr>
          <a:xfrm>
            <a:off x="8685423" y="250805"/>
            <a:ext cx="2880917" cy="523220"/>
          </a:xfrm>
          <a:prstGeom prst="rect">
            <a:avLst/>
          </a:prstGeom>
          <a:noFill/>
        </p:spPr>
        <p:txBody>
          <a:bodyPr wrap="none" rtlCol="0">
            <a:spAutoFit/>
          </a:bodyPr>
          <a:lstStyle/>
          <a:p>
            <a:r>
              <a:rPr lang="zh-TW" altLang="en-US" sz="2800" dirty="0">
                <a:latin typeface="微軟正黑體" panose="020B0604030504040204" pitchFamily="34" charset="-120"/>
                <a:ea typeface="微軟正黑體" panose="020B0604030504040204" pitchFamily="34" charset="-120"/>
              </a:rPr>
              <a:t>網站</a:t>
            </a:r>
            <a:r>
              <a:rPr lang="en-US" altLang="zh-TW" sz="2800" dirty="0">
                <a:latin typeface="微軟正黑體" panose="020B0604030504040204" pitchFamily="34" charset="-120"/>
                <a:ea typeface="微軟正黑體" panose="020B0604030504040204" pitchFamily="34" charset="-120"/>
              </a:rPr>
              <a:t>Anchor</a:t>
            </a:r>
            <a:r>
              <a:rPr lang="zh-TW" altLang="en-US" sz="2800" dirty="0">
                <a:latin typeface="微軟正黑體" panose="020B0604030504040204" pitchFamily="34" charset="-120"/>
                <a:ea typeface="微軟正黑體" panose="020B0604030504040204" pitchFamily="34" charset="-120"/>
              </a:rPr>
              <a:t>設定</a:t>
            </a:r>
          </a:p>
        </p:txBody>
      </p:sp>
      <p:pic>
        <p:nvPicPr>
          <p:cNvPr id="5" name="圖片 4">
            <a:extLst>
              <a:ext uri="{FF2B5EF4-FFF2-40B4-BE49-F238E27FC236}">
                <a16:creationId xmlns:a16="http://schemas.microsoft.com/office/drawing/2014/main" id="{8C13DCEA-912F-CAB5-22BA-305988A5693C}"/>
              </a:ext>
            </a:extLst>
          </p:cNvPr>
          <p:cNvPicPr>
            <a:picLocks noChangeAspect="1"/>
          </p:cNvPicPr>
          <p:nvPr/>
        </p:nvPicPr>
        <p:blipFill>
          <a:blip r:embed="rId2"/>
          <a:stretch>
            <a:fillRect/>
          </a:stretch>
        </p:blipFill>
        <p:spPr>
          <a:xfrm>
            <a:off x="7510278" y="914964"/>
            <a:ext cx="4056062" cy="5457106"/>
          </a:xfrm>
          <a:prstGeom prst="rect">
            <a:avLst/>
          </a:prstGeom>
        </p:spPr>
      </p:pic>
      <p:pic>
        <p:nvPicPr>
          <p:cNvPr id="4" name="圖片 3" descr="一張含有 文字, 螢幕擷取畫面, 字型, 平面設計 的圖片&#10;&#10;自動產生的描述">
            <a:extLst>
              <a:ext uri="{FF2B5EF4-FFF2-40B4-BE49-F238E27FC236}">
                <a16:creationId xmlns:a16="http://schemas.microsoft.com/office/drawing/2014/main" id="{164532A0-0775-17BF-00D6-155066C191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8954" y="0"/>
            <a:ext cx="1984504" cy="6721475"/>
          </a:xfrm>
          <a:prstGeom prst="rect">
            <a:avLst/>
          </a:prstGeom>
        </p:spPr>
      </p:pic>
      <p:sp>
        <p:nvSpPr>
          <p:cNvPr id="6" name="矩形 5">
            <a:extLst>
              <a:ext uri="{FF2B5EF4-FFF2-40B4-BE49-F238E27FC236}">
                <a16:creationId xmlns:a16="http://schemas.microsoft.com/office/drawing/2014/main" id="{1D87B7E3-34A4-1BFB-D1C1-D3924C647CAA}"/>
              </a:ext>
            </a:extLst>
          </p:cNvPr>
          <p:cNvSpPr/>
          <p:nvPr/>
        </p:nvSpPr>
        <p:spPr bwMode="auto">
          <a:xfrm>
            <a:off x="463095" y="862941"/>
            <a:ext cx="3441700" cy="1365909"/>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8" name="流程圖: 換頁接點 7">
            <a:extLst>
              <a:ext uri="{FF2B5EF4-FFF2-40B4-BE49-F238E27FC236}">
                <a16:creationId xmlns:a16="http://schemas.microsoft.com/office/drawing/2014/main" id="{25A75875-34F7-CACE-C59B-3751FCB8C504}"/>
              </a:ext>
            </a:extLst>
          </p:cNvPr>
          <p:cNvSpPr/>
          <p:nvPr/>
        </p:nvSpPr>
        <p:spPr bwMode="auto">
          <a:xfrm rot="5400000">
            <a:off x="3737634" y="708025"/>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0" name="文字方塊 9">
            <a:extLst>
              <a:ext uri="{FF2B5EF4-FFF2-40B4-BE49-F238E27FC236}">
                <a16:creationId xmlns:a16="http://schemas.microsoft.com/office/drawing/2014/main" id="{D9AA45F9-7415-0E52-A8C8-15E2E6467ECB}"/>
              </a:ext>
            </a:extLst>
          </p:cNvPr>
          <p:cNvSpPr txBox="1"/>
          <p:nvPr/>
        </p:nvSpPr>
        <p:spPr>
          <a:xfrm>
            <a:off x="3569621" y="1257929"/>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反詐快訊</a:t>
            </a:r>
          </a:p>
        </p:txBody>
      </p:sp>
      <p:sp>
        <p:nvSpPr>
          <p:cNvPr id="11" name="矩形 10">
            <a:extLst>
              <a:ext uri="{FF2B5EF4-FFF2-40B4-BE49-F238E27FC236}">
                <a16:creationId xmlns:a16="http://schemas.microsoft.com/office/drawing/2014/main" id="{ED7F66FB-5FCB-F719-AEE2-34407B9AEEA6}"/>
              </a:ext>
            </a:extLst>
          </p:cNvPr>
          <p:cNvSpPr/>
          <p:nvPr/>
        </p:nvSpPr>
        <p:spPr bwMode="auto">
          <a:xfrm>
            <a:off x="446068" y="2279650"/>
            <a:ext cx="3441700" cy="862941"/>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6" name="矩形 15">
            <a:extLst>
              <a:ext uri="{FF2B5EF4-FFF2-40B4-BE49-F238E27FC236}">
                <a16:creationId xmlns:a16="http://schemas.microsoft.com/office/drawing/2014/main" id="{71A91333-25CC-F65A-D8BF-66C9F4B74A45}"/>
              </a:ext>
            </a:extLst>
          </p:cNvPr>
          <p:cNvSpPr/>
          <p:nvPr/>
        </p:nvSpPr>
        <p:spPr bwMode="auto">
          <a:xfrm>
            <a:off x="382773" y="4006940"/>
            <a:ext cx="3441700" cy="1190266"/>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9" name="流程圖: 換頁接點 18">
            <a:extLst>
              <a:ext uri="{FF2B5EF4-FFF2-40B4-BE49-F238E27FC236}">
                <a16:creationId xmlns:a16="http://schemas.microsoft.com/office/drawing/2014/main" id="{C5FBFFCA-7D2A-4635-BEF7-D60CA9BACAEB}"/>
              </a:ext>
            </a:extLst>
          </p:cNvPr>
          <p:cNvSpPr/>
          <p:nvPr/>
        </p:nvSpPr>
        <p:spPr bwMode="auto">
          <a:xfrm rot="5400000">
            <a:off x="3701773" y="3891262"/>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21" name="文字方塊 20">
            <a:extLst>
              <a:ext uri="{FF2B5EF4-FFF2-40B4-BE49-F238E27FC236}">
                <a16:creationId xmlns:a16="http://schemas.microsoft.com/office/drawing/2014/main" id="{A105E034-1965-F082-2DF7-15054C7B6D84}"/>
              </a:ext>
            </a:extLst>
          </p:cNvPr>
          <p:cNvSpPr txBox="1"/>
          <p:nvPr/>
        </p:nvSpPr>
        <p:spPr>
          <a:xfrm>
            <a:off x="3533760" y="4441166"/>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正確識別</a:t>
            </a:r>
          </a:p>
        </p:txBody>
      </p:sp>
      <p:sp>
        <p:nvSpPr>
          <p:cNvPr id="25" name="矩形 24">
            <a:extLst>
              <a:ext uri="{FF2B5EF4-FFF2-40B4-BE49-F238E27FC236}">
                <a16:creationId xmlns:a16="http://schemas.microsoft.com/office/drawing/2014/main" id="{0543A638-9428-7160-35A6-BD38BCE54653}"/>
              </a:ext>
            </a:extLst>
          </p:cNvPr>
          <p:cNvSpPr/>
          <p:nvPr/>
        </p:nvSpPr>
        <p:spPr bwMode="auto">
          <a:xfrm>
            <a:off x="382773" y="5206132"/>
            <a:ext cx="3441700" cy="862941"/>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1" name="矩形 30">
            <a:extLst>
              <a:ext uri="{FF2B5EF4-FFF2-40B4-BE49-F238E27FC236}">
                <a16:creationId xmlns:a16="http://schemas.microsoft.com/office/drawing/2014/main" id="{63BB1FB2-CD95-64CE-D887-8AE09C40DDEB}"/>
              </a:ext>
            </a:extLst>
          </p:cNvPr>
          <p:cNvSpPr/>
          <p:nvPr/>
        </p:nvSpPr>
        <p:spPr bwMode="auto">
          <a:xfrm>
            <a:off x="446068" y="2279650"/>
            <a:ext cx="3441700" cy="862941"/>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6" name="流程圖: 換頁接點 35">
            <a:extLst>
              <a:ext uri="{FF2B5EF4-FFF2-40B4-BE49-F238E27FC236}">
                <a16:creationId xmlns:a16="http://schemas.microsoft.com/office/drawing/2014/main" id="{7129D569-8FA5-C15E-39A1-F6D43541A864}"/>
              </a:ext>
            </a:extLst>
          </p:cNvPr>
          <p:cNvSpPr/>
          <p:nvPr/>
        </p:nvSpPr>
        <p:spPr bwMode="auto">
          <a:xfrm rot="5400000">
            <a:off x="3731734" y="1929786"/>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7" name="文字方塊 36">
            <a:extLst>
              <a:ext uri="{FF2B5EF4-FFF2-40B4-BE49-F238E27FC236}">
                <a16:creationId xmlns:a16="http://schemas.microsoft.com/office/drawing/2014/main" id="{F4A5AFF8-AF58-AE19-B906-F3731187239B}"/>
              </a:ext>
            </a:extLst>
          </p:cNvPr>
          <p:cNvSpPr txBox="1"/>
          <p:nvPr/>
        </p:nvSpPr>
        <p:spPr>
          <a:xfrm>
            <a:off x="3563721" y="2479690"/>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公告查詢</a:t>
            </a:r>
          </a:p>
        </p:txBody>
      </p:sp>
      <p:sp>
        <p:nvSpPr>
          <p:cNvPr id="38" name="流程圖: 換頁接點 37">
            <a:extLst>
              <a:ext uri="{FF2B5EF4-FFF2-40B4-BE49-F238E27FC236}">
                <a16:creationId xmlns:a16="http://schemas.microsoft.com/office/drawing/2014/main" id="{B71B7BD0-6B91-B089-54F6-9D7CCB6F882D}"/>
              </a:ext>
            </a:extLst>
          </p:cNvPr>
          <p:cNvSpPr/>
          <p:nvPr/>
        </p:nvSpPr>
        <p:spPr bwMode="auto">
          <a:xfrm rot="5400000">
            <a:off x="3731734" y="4880514"/>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9" name="文字方塊 38">
            <a:extLst>
              <a:ext uri="{FF2B5EF4-FFF2-40B4-BE49-F238E27FC236}">
                <a16:creationId xmlns:a16="http://schemas.microsoft.com/office/drawing/2014/main" id="{B4359AD6-3665-780A-D981-B5DAFEE498FE}"/>
              </a:ext>
            </a:extLst>
          </p:cNvPr>
          <p:cNvSpPr txBox="1"/>
          <p:nvPr/>
        </p:nvSpPr>
        <p:spPr>
          <a:xfrm>
            <a:off x="3563721" y="5430418"/>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詐騙查詢</a:t>
            </a:r>
          </a:p>
        </p:txBody>
      </p:sp>
      <p:sp>
        <p:nvSpPr>
          <p:cNvPr id="40" name="矩形 39">
            <a:extLst>
              <a:ext uri="{FF2B5EF4-FFF2-40B4-BE49-F238E27FC236}">
                <a16:creationId xmlns:a16="http://schemas.microsoft.com/office/drawing/2014/main" id="{2079F636-B163-9B4B-2816-E8470D5BB687}"/>
              </a:ext>
            </a:extLst>
          </p:cNvPr>
          <p:cNvSpPr/>
          <p:nvPr/>
        </p:nvSpPr>
        <p:spPr bwMode="auto">
          <a:xfrm>
            <a:off x="7913668" y="4641221"/>
            <a:ext cx="3441700" cy="1427852"/>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41" name="文字方塊 40">
            <a:extLst>
              <a:ext uri="{FF2B5EF4-FFF2-40B4-BE49-F238E27FC236}">
                <a16:creationId xmlns:a16="http://schemas.microsoft.com/office/drawing/2014/main" id="{FC77D296-2051-FCB2-09C0-6286FC875483}"/>
              </a:ext>
            </a:extLst>
          </p:cNvPr>
          <p:cNvSpPr txBox="1"/>
          <p:nvPr/>
        </p:nvSpPr>
        <p:spPr>
          <a:xfrm>
            <a:off x="6958668" y="4232198"/>
            <a:ext cx="1726755"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暫不設定</a:t>
            </a:r>
            <a:r>
              <a:rPr lang="en-US" altLang="zh-TW" sz="1600" dirty="0">
                <a:latin typeface="微軟正黑體" panose="020B0604030504040204" pitchFamily="34" charset="-120"/>
                <a:ea typeface="微軟正黑體" panose="020B0604030504040204" pitchFamily="34" charset="-120"/>
              </a:rPr>
              <a:t>Anchor</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68908495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字方塊 36">
            <a:extLst>
              <a:ext uri="{FF2B5EF4-FFF2-40B4-BE49-F238E27FC236}">
                <a16:creationId xmlns:a16="http://schemas.microsoft.com/office/drawing/2014/main" id="{A99FBA0A-742C-9156-3E6C-47F57A850E79}"/>
              </a:ext>
            </a:extLst>
          </p:cNvPr>
          <p:cNvSpPr txBox="1"/>
          <p:nvPr/>
        </p:nvSpPr>
        <p:spPr>
          <a:xfrm>
            <a:off x="7597952" y="835705"/>
            <a:ext cx="595035" cy="338554"/>
          </a:xfrm>
          <a:prstGeom prst="rect">
            <a:avLst/>
          </a:prstGeom>
          <a:noFill/>
        </p:spPr>
        <p:txBody>
          <a:bodyPr wrap="none" rtlCol="0">
            <a:spAutoFit/>
          </a:bodyPr>
          <a:lstStyle/>
          <a:p>
            <a:r>
              <a:rPr lang="zh-TW" altLang="en-US" sz="1600" dirty="0">
                <a:solidFill>
                  <a:schemeClr val="bg1"/>
                </a:solidFill>
                <a:latin typeface="微軟正黑體" panose="020B0604030504040204" pitchFamily="34" charset="-120"/>
                <a:ea typeface="微軟正黑體" panose="020B0604030504040204" pitchFamily="34" charset="-120"/>
              </a:rPr>
              <a:t>調前</a:t>
            </a:r>
          </a:p>
        </p:txBody>
      </p:sp>
      <p:pic>
        <p:nvPicPr>
          <p:cNvPr id="4" name="Picture 2" descr="箭號, 箭頭圖標, 箭, 後退向量圖案素材免費下載，PNG，EPS和AI素材下載- Pngtree | 和, 矢, 素材">
            <a:extLst>
              <a:ext uri="{FF2B5EF4-FFF2-40B4-BE49-F238E27FC236}">
                <a16:creationId xmlns:a16="http://schemas.microsoft.com/office/drawing/2014/main" id="{D8089483-5B1E-B07B-5979-61E85B296778}"/>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5400000">
            <a:off x="7745522" y="4727367"/>
            <a:ext cx="946922" cy="946922"/>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B0F06BA6-DED9-AEE7-C7B9-7F2FEB422C11}"/>
              </a:ext>
            </a:extLst>
          </p:cNvPr>
          <p:cNvSpPr/>
          <p:nvPr/>
        </p:nvSpPr>
        <p:spPr bwMode="auto">
          <a:xfrm>
            <a:off x="7282381" y="3534530"/>
            <a:ext cx="3520868" cy="946922"/>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3" name="文字方塊 12">
            <a:extLst>
              <a:ext uri="{FF2B5EF4-FFF2-40B4-BE49-F238E27FC236}">
                <a16:creationId xmlns:a16="http://schemas.microsoft.com/office/drawing/2014/main" id="{AFBC1D10-64FA-D5E2-6B23-FB7FB08BAED6}"/>
              </a:ext>
            </a:extLst>
          </p:cNvPr>
          <p:cNvSpPr txBox="1"/>
          <p:nvPr/>
        </p:nvSpPr>
        <p:spPr>
          <a:xfrm>
            <a:off x="7282381" y="3673028"/>
            <a:ext cx="3306567" cy="646331"/>
          </a:xfrm>
          <a:prstGeom prst="rect">
            <a:avLst/>
          </a:prstGeom>
          <a:noFill/>
        </p:spPr>
        <p:txBody>
          <a:bodyPr wrap="square" rtlCol="0">
            <a:spAutoFit/>
          </a:bodyPr>
          <a:lstStyle/>
          <a:p>
            <a:r>
              <a:rPr lang="zh-TW" altLang="en-US" sz="1800" dirty="0">
                <a:latin typeface="微軟正黑體" panose="020B0604030504040204" pitchFamily="34" charset="-120"/>
                <a:ea typeface="微軟正黑體" panose="020B0604030504040204" pitchFamily="34" charset="-120"/>
                <a:cs typeface="Times New Roman" panose="02020603050405020304" pitchFamily="18" charset="0"/>
              </a:rPr>
              <a:t>因一頁式網頁篇幅較長，建議新增浮動式按鈕「回到最上層」</a:t>
            </a:r>
            <a:endParaRPr lang="en-US" altLang="zh-TW" sz="1800" dirty="0">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20" name="圖片 19">
            <a:extLst>
              <a:ext uri="{FF2B5EF4-FFF2-40B4-BE49-F238E27FC236}">
                <a16:creationId xmlns:a16="http://schemas.microsoft.com/office/drawing/2014/main" id="{8C4D90D8-1155-9734-1C6D-F880001020B0}"/>
              </a:ext>
            </a:extLst>
          </p:cNvPr>
          <p:cNvPicPr>
            <a:picLocks noChangeAspect="1"/>
          </p:cNvPicPr>
          <p:nvPr/>
        </p:nvPicPr>
        <p:blipFill>
          <a:blip r:embed="rId4"/>
          <a:stretch>
            <a:fillRect/>
          </a:stretch>
        </p:blipFill>
        <p:spPr>
          <a:xfrm>
            <a:off x="9042815" y="4816070"/>
            <a:ext cx="741015" cy="798649"/>
          </a:xfrm>
          <a:prstGeom prst="rect">
            <a:avLst/>
          </a:prstGeom>
        </p:spPr>
      </p:pic>
      <p:sp>
        <p:nvSpPr>
          <p:cNvPr id="2" name="文字方塊 1">
            <a:extLst>
              <a:ext uri="{FF2B5EF4-FFF2-40B4-BE49-F238E27FC236}">
                <a16:creationId xmlns:a16="http://schemas.microsoft.com/office/drawing/2014/main" id="{E07FFCCD-7DF8-4056-0FE4-F7B1036E2563}"/>
              </a:ext>
            </a:extLst>
          </p:cNvPr>
          <p:cNvSpPr txBox="1"/>
          <p:nvPr/>
        </p:nvSpPr>
        <p:spPr>
          <a:xfrm>
            <a:off x="9237762" y="268689"/>
            <a:ext cx="2339102" cy="523220"/>
          </a:xfrm>
          <a:prstGeom prst="rect">
            <a:avLst/>
          </a:prstGeom>
          <a:noFill/>
        </p:spPr>
        <p:txBody>
          <a:bodyPr wrap="none" rtlCol="0">
            <a:spAutoFit/>
          </a:bodyPr>
          <a:lstStyle/>
          <a:p>
            <a:r>
              <a:rPr lang="zh-TW" altLang="en-US" sz="2800" dirty="0">
                <a:latin typeface="微軟正黑體" panose="020B0604030504040204" pitchFamily="34" charset="-120"/>
                <a:ea typeface="微軟正黑體" panose="020B0604030504040204" pitchFamily="34" charset="-120"/>
              </a:rPr>
              <a:t>新增浮動按鈕</a:t>
            </a:r>
            <a:endParaRPr lang="zh-TW" altLang="en-US" dirty="0">
              <a:latin typeface="微軟正黑體" panose="020B0604030504040204" pitchFamily="34" charset="-120"/>
              <a:ea typeface="微軟正黑體" panose="020B0604030504040204" pitchFamily="34" charset="-120"/>
            </a:endParaRPr>
          </a:p>
        </p:txBody>
      </p:sp>
      <p:pic>
        <p:nvPicPr>
          <p:cNvPr id="8" name="圖片 7" descr="一張含有 文字, 螢幕擷取畫面, 字型, 平面設計 的圖片&#10;&#10;自動產生的描述">
            <a:extLst>
              <a:ext uri="{FF2B5EF4-FFF2-40B4-BE49-F238E27FC236}">
                <a16:creationId xmlns:a16="http://schemas.microsoft.com/office/drawing/2014/main" id="{E08AA6F0-ADA4-E3BF-C4A7-53FBD20399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354" y="0"/>
            <a:ext cx="1984504" cy="6721475"/>
          </a:xfrm>
          <a:prstGeom prst="rect">
            <a:avLst/>
          </a:prstGeom>
        </p:spPr>
      </p:pic>
      <p:sp>
        <p:nvSpPr>
          <p:cNvPr id="10" name="矩形 9">
            <a:extLst>
              <a:ext uri="{FF2B5EF4-FFF2-40B4-BE49-F238E27FC236}">
                <a16:creationId xmlns:a16="http://schemas.microsoft.com/office/drawing/2014/main" id="{1F536596-B7A2-FD8D-C984-14DEA7F1C7F9}"/>
              </a:ext>
            </a:extLst>
          </p:cNvPr>
          <p:cNvSpPr/>
          <p:nvPr/>
        </p:nvSpPr>
        <p:spPr bwMode="auto">
          <a:xfrm>
            <a:off x="6965612" y="3282852"/>
            <a:ext cx="4375487" cy="2602918"/>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pic>
        <p:nvPicPr>
          <p:cNvPr id="12" name="Picture 2" descr="箭號, 箭頭圖標, 箭, 後退向量圖案素材免費下載，PNG，EPS和AI素材下載- Pngtree | 和, 矢, 素材">
            <a:extLst>
              <a:ext uri="{FF2B5EF4-FFF2-40B4-BE49-F238E27FC236}">
                <a16:creationId xmlns:a16="http://schemas.microsoft.com/office/drawing/2014/main" id="{07DF34E0-B4C3-AB49-A77D-98AC44275495}"/>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5400000">
            <a:off x="3217832" y="489704"/>
            <a:ext cx="440626" cy="440626"/>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單箭頭接點 14">
            <a:extLst>
              <a:ext uri="{FF2B5EF4-FFF2-40B4-BE49-F238E27FC236}">
                <a16:creationId xmlns:a16="http://schemas.microsoft.com/office/drawing/2014/main" id="{ABD940F6-D2EE-68BB-64A4-3FF0A329D908}"/>
              </a:ext>
            </a:extLst>
          </p:cNvPr>
          <p:cNvCxnSpPr/>
          <p:nvPr/>
        </p:nvCxnSpPr>
        <p:spPr bwMode="auto">
          <a:xfrm>
            <a:off x="3658458" y="791909"/>
            <a:ext cx="3059842" cy="23957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84968394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一張含有 文字, 螢幕擷取畫面, 字型, 平面設計 的圖片&#10;&#10;自動產生的描述">
            <a:extLst>
              <a:ext uri="{FF2B5EF4-FFF2-40B4-BE49-F238E27FC236}">
                <a16:creationId xmlns:a16="http://schemas.microsoft.com/office/drawing/2014/main" id="{FA5F57BA-C58E-9248-3B7B-ADC49F0F8B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354" y="0"/>
            <a:ext cx="1984504" cy="6721475"/>
          </a:xfrm>
          <a:prstGeom prst="rect">
            <a:avLst/>
          </a:prstGeom>
        </p:spPr>
      </p:pic>
      <p:sp>
        <p:nvSpPr>
          <p:cNvPr id="4" name="文字方塊 3">
            <a:extLst>
              <a:ext uri="{FF2B5EF4-FFF2-40B4-BE49-F238E27FC236}">
                <a16:creationId xmlns:a16="http://schemas.microsoft.com/office/drawing/2014/main" id="{368622D0-C130-D4CA-5920-29244CAA4E9F}"/>
              </a:ext>
            </a:extLst>
          </p:cNvPr>
          <p:cNvSpPr txBox="1"/>
          <p:nvPr/>
        </p:nvSpPr>
        <p:spPr>
          <a:xfrm>
            <a:off x="9237762" y="268689"/>
            <a:ext cx="2039597" cy="523220"/>
          </a:xfrm>
          <a:prstGeom prst="rect">
            <a:avLst/>
          </a:prstGeom>
          <a:noFill/>
        </p:spPr>
        <p:txBody>
          <a:bodyPr wrap="square" rtlCol="0">
            <a:spAutoFit/>
          </a:bodyPr>
          <a:lstStyle/>
          <a:p>
            <a:r>
              <a:rPr lang="en-US" altLang="zh-TW" sz="2800" dirty="0">
                <a:latin typeface="微軟正黑體" panose="020B0604030504040204" pitchFamily="34" charset="-120"/>
                <a:ea typeface="微軟正黑體" panose="020B0604030504040204" pitchFamily="34" charset="-120"/>
              </a:rPr>
              <a:t>Footer</a:t>
            </a:r>
            <a:r>
              <a:rPr lang="zh-TW" altLang="en-US" sz="2800" dirty="0">
                <a:latin typeface="微軟正黑體" panose="020B0604030504040204" pitchFamily="34" charset="-120"/>
                <a:ea typeface="微軟正黑體" panose="020B0604030504040204" pitchFamily="34" charset="-120"/>
              </a:rPr>
              <a:t>導連</a:t>
            </a:r>
            <a:endParaRPr lang="zh-TW" altLang="en-US" dirty="0">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4D73A3D0-371B-B12C-782D-1C8B4338752B}"/>
              </a:ext>
            </a:extLst>
          </p:cNvPr>
          <p:cNvGraphicFramePr>
            <a:graphicFrameLocks noGrp="1"/>
          </p:cNvGraphicFramePr>
          <p:nvPr>
            <p:extLst>
              <p:ext uri="{D42A27DB-BD31-4B8C-83A1-F6EECF244321}">
                <p14:modId xmlns:p14="http://schemas.microsoft.com/office/powerpoint/2010/main" val="2398611825"/>
              </p:ext>
            </p:extLst>
          </p:nvPr>
        </p:nvGraphicFramePr>
        <p:xfrm>
          <a:off x="4125913" y="1912938"/>
          <a:ext cx="7646987" cy="3452063"/>
        </p:xfrm>
        <a:graphic>
          <a:graphicData uri="http://schemas.openxmlformats.org/drawingml/2006/table">
            <a:tbl>
              <a:tblPr firstRow="1" bandRow="1">
                <a:tableStyleId>{073A0DAA-6AF3-43AB-8588-CEC1D06C72B9}</a:tableStyleId>
              </a:tblPr>
              <a:tblGrid>
                <a:gridCol w="2250978">
                  <a:extLst>
                    <a:ext uri="{9D8B030D-6E8A-4147-A177-3AD203B41FA5}">
                      <a16:colId xmlns:a16="http://schemas.microsoft.com/office/drawing/2014/main" val="947594521"/>
                    </a:ext>
                  </a:extLst>
                </a:gridCol>
                <a:gridCol w="5396009">
                  <a:extLst>
                    <a:ext uri="{9D8B030D-6E8A-4147-A177-3AD203B41FA5}">
                      <a16:colId xmlns:a16="http://schemas.microsoft.com/office/drawing/2014/main" val="818668498"/>
                    </a:ext>
                  </a:extLst>
                </a:gridCol>
              </a:tblGrid>
              <a:tr h="370840">
                <a:tc>
                  <a:txBody>
                    <a:bodyPr/>
                    <a:lstStyle/>
                    <a:p>
                      <a:pPr algn="ctr"/>
                      <a:r>
                        <a:rPr lang="zh-TW" altLang="en-US" sz="1100" dirty="0">
                          <a:latin typeface="微軟正黑體" panose="020B0604030504040204" pitchFamily="34" charset="-120"/>
                          <a:ea typeface="微軟正黑體" panose="020B0604030504040204" pitchFamily="34" charset="-120"/>
                        </a:rPr>
                        <a:t>標題</a:t>
                      </a:r>
                    </a:p>
                  </a:txBody>
                  <a:tcPr anchor="ctr"/>
                </a:tc>
                <a:tc>
                  <a:txBody>
                    <a:bodyPr/>
                    <a:lstStyle/>
                    <a:p>
                      <a:pPr algn="ctr"/>
                      <a:r>
                        <a:rPr lang="en-US" altLang="zh-TW" sz="1100" dirty="0">
                          <a:latin typeface="微軟正黑體" panose="020B0604030504040204" pitchFamily="34" charset="-120"/>
                          <a:ea typeface="微軟正黑體" panose="020B0604030504040204" pitchFamily="34" charset="-120"/>
                        </a:rPr>
                        <a:t>domain</a:t>
                      </a:r>
                      <a:endParaRPr lang="zh-TW" altLang="en-US" sz="11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157890034"/>
                  </a:ext>
                </a:extLst>
              </a:tr>
              <a:tr h="388823">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詐騙</a:t>
                      </a:r>
                      <a:r>
                        <a:rPr lang="en-US" altLang="zh-TW" sz="1100" b="0" dirty="0">
                          <a:solidFill>
                            <a:schemeClr val="tx1"/>
                          </a:solidFill>
                          <a:latin typeface="微軟正黑體" panose="020B0604030504040204" pitchFamily="34" charset="-120"/>
                          <a:ea typeface="微軟正黑體" panose="020B0604030504040204" pitchFamily="34" charset="-120"/>
                        </a:rPr>
                        <a:t>LINE ID</a:t>
                      </a: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https://165.npa.gov.tw/#/lineId</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647098741"/>
                  </a:ext>
                </a:extLst>
              </a:tr>
              <a:tr h="3810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詐騙電話</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https://165.npa.gov.tw/#/articles/subclass/4</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2008547719"/>
                  </a:ext>
                </a:extLst>
              </a:tr>
              <a:tr h="4064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詐騙境外帳戶</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https://165.npa.gov.tw/#/articles/subclass/1</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220588758"/>
                  </a:ext>
                </a:extLst>
              </a:tr>
              <a:tr h="3429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假投資網站</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https://165.npa.gov.tw/#/articles/subclass/3</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171487107"/>
                  </a:ext>
                </a:extLst>
              </a:tr>
              <a:tr h="4191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高風險賣場</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https://165.npa.gov.tw/#/articles/subclass/5</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224341698"/>
                  </a:ext>
                </a:extLst>
              </a:tr>
              <a:tr h="342900">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165</a:t>
                      </a:r>
                      <a:r>
                        <a:rPr lang="zh-TW" altLang="en-US" sz="1100" b="0" dirty="0">
                          <a:solidFill>
                            <a:schemeClr val="tx1"/>
                          </a:solidFill>
                          <a:latin typeface="微軟正黑體" panose="020B0604030504040204" pitchFamily="34" charset="-120"/>
                          <a:ea typeface="微軟正黑體" panose="020B0604030504040204" pitchFamily="34" charset="-120"/>
                        </a:rPr>
                        <a:t>全民防騙網首頁查詢功能</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77350232"/>
                  </a:ext>
                </a:extLst>
              </a:tr>
              <a:tr h="4953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未經金管會核准業者</a:t>
                      </a:r>
                      <a:r>
                        <a:rPr lang="en-US" altLang="zh-TW" sz="1100" b="0" dirty="0">
                          <a:solidFill>
                            <a:schemeClr val="tx1"/>
                          </a:solidFill>
                          <a:latin typeface="微軟正黑體" panose="020B0604030504040204" pitchFamily="34" charset="-120"/>
                          <a:ea typeface="微軟正黑體" panose="020B0604030504040204" pitchFamily="34" charset="-120"/>
                        </a:rPr>
                        <a:t>/</a:t>
                      </a:r>
                      <a:r>
                        <a:rPr lang="zh-TW" altLang="en-US" sz="1100" b="0" dirty="0">
                          <a:solidFill>
                            <a:schemeClr val="tx1"/>
                          </a:solidFill>
                          <a:latin typeface="微軟正黑體" panose="020B0604030504040204" pitchFamily="34" charset="-120"/>
                          <a:ea typeface="微軟正黑體" panose="020B0604030504040204" pitchFamily="34" charset="-120"/>
                        </a:rPr>
                        <a:t>商品查詢</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https://3434.twsa.org.tw/</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889902894"/>
                  </a:ext>
                </a:extLst>
              </a:tr>
              <a:tr h="3048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台灣事實查核中心反詐騙專區</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https://tfctaiwan.org.tw/topic/8023</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472074447"/>
                  </a:ext>
                </a:extLst>
              </a:tr>
            </a:tbl>
          </a:graphicData>
        </a:graphic>
      </p:graphicFrame>
      <p:sp>
        <p:nvSpPr>
          <p:cNvPr id="6" name="矩形 5">
            <a:extLst>
              <a:ext uri="{FF2B5EF4-FFF2-40B4-BE49-F238E27FC236}">
                <a16:creationId xmlns:a16="http://schemas.microsoft.com/office/drawing/2014/main" id="{28AFAAFF-A632-57FF-9CCA-F18695708F03}"/>
              </a:ext>
            </a:extLst>
          </p:cNvPr>
          <p:cNvSpPr/>
          <p:nvPr/>
        </p:nvSpPr>
        <p:spPr bwMode="auto">
          <a:xfrm>
            <a:off x="4267200" y="2293620"/>
            <a:ext cx="7078980" cy="1866900"/>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7" name="矩形 6">
            <a:extLst>
              <a:ext uri="{FF2B5EF4-FFF2-40B4-BE49-F238E27FC236}">
                <a16:creationId xmlns:a16="http://schemas.microsoft.com/office/drawing/2014/main" id="{22808172-916E-67F7-0FBD-0B9954B8CE59}"/>
              </a:ext>
            </a:extLst>
          </p:cNvPr>
          <p:cNvSpPr/>
          <p:nvPr/>
        </p:nvSpPr>
        <p:spPr bwMode="auto">
          <a:xfrm>
            <a:off x="1828800" y="6240779"/>
            <a:ext cx="358140" cy="388621"/>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8" name="矩形 7">
            <a:extLst>
              <a:ext uri="{FF2B5EF4-FFF2-40B4-BE49-F238E27FC236}">
                <a16:creationId xmlns:a16="http://schemas.microsoft.com/office/drawing/2014/main" id="{ABA4C79C-3B33-042E-48A2-20EACCF95B56}"/>
              </a:ext>
            </a:extLst>
          </p:cNvPr>
          <p:cNvSpPr/>
          <p:nvPr/>
        </p:nvSpPr>
        <p:spPr bwMode="auto">
          <a:xfrm>
            <a:off x="4267200" y="4244340"/>
            <a:ext cx="7078980" cy="1120661"/>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9" name="矩形 8">
            <a:extLst>
              <a:ext uri="{FF2B5EF4-FFF2-40B4-BE49-F238E27FC236}">
                <a16:creationId xmlns:a16="http://schemas.microsoft.com/office/drawing/2014/main" id="{01AD03CA-2E80-E5E8-B269-2BE4F76BD0F6}"/>
              </a:ext>
            </a:extLst>
          </p:cNvPr>
          <p:cNvSpPr/>
          <p:nvPr/>
        </p:nvSpPr>
        <p:spPr bwMode="auto">
          <a:xfrm>
            <a:off x="2628995" y="6240779"/>
            <a:ext cx="533305" cy="244883"/>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Tree>
    <p:extLst>
      <p:ext uri="{BB962C8B-B14F-4D97-AF65-F5344CB8AC3E}">
        <p14:creationId xmlns:p14="http://schemas.microsoft.com/office/powerpoint/2010/main" val="1020844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104F56CD-819E-4AF4-88E2-5A491CB628F9}"/>
              </a:ext>
            </a:extLst>
          </p:cNvPr>
          <p:cNvPicPr>
            <a:picLocks noChangeAspect="1"/>
          </p:cNvPicPr>
          <p:nvPr/>
        </p:nvPicPr>
        <p:blipFill>
          <a:blip r:embed="rId2"/>
          <a:stretch>
            <a:fillRect/>
          </a:stretch>
        </p:blipFill>
        <p:spPr>
          <a:xfrm>
            <a:off x="383381" y="1019815"/>
            <a:ext cx="7135019" cy="3477572"/>
          </a:xfrm>
          <a:prstGeom prst="rect">
            <a:avLst/>
          </a:prstGeom>
        </p:spPr>
      </p:pic>
      <p:sp>
        <p:nvSpPr>
          <p:cNvPr id="6" name="矩形 5">
            <a:extLst>
              <a:ext uri="{FF2B5EF4-FFF2-40B4-BE49-F238E27FC236}">
                <a16:creationId xmlns:a16="http://schemas.microsoft.com/office/drawing/2014/main" id="{E0231B06-D5E4-B187-4D0B-33DBF1CEE4F1}"/>
              </a:ext>
            </a:extLst>
          </p:cNvPr>
          <p:cNvSpPr/>
          <p:nvPr/>
        </p:nvSpPr>
        <p:spPr bwMode="auto">
          <a:xfrm>
            <a:off x="5797213" y="3898900"/>
            <a:ext cx="552788" cy="488270"/>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cxnSp>
        <p:nvCxnSpPr>
          <p:cNvPr id="7" name="直線單箭頭接點 6">
            <a:extLst>
              <a:ext uri="{FF2B5EF4-FFF2-40B4-BE49-F238E27FC236}">
                <a16:creationId xmlns:a16="http://schemas.microsoft.com/office/drawing/2014/main" id="{0752C10C-1561-210B-ABD8-BE41CA5A99E3}"/>
              </a:ext>
            </a:extLst>
          </p:cNvPr>
          <p:cNvCxnSpPr>
            <a:cxnSpLocks/>
          </p:cNvCxnSpPr>
          <p:nvPr/>
        </p:nvCxnSpPr>
        <p:spPr bwMode="auto">
          <a:xfrm>
            <a:off x="6173058" y="4387170"/>
            <a:ext cx="0" cy="8071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文字方塊 9">
            <a:extLst>
              <a:ext uri="{FF2B5EF4-FFF2-40B4-BE49-F238E27FC236}">
                <a16:creationId xmlns:a16="http://schemas.microsoft.com/office/drawing/2014/main" id="{E8D6E2F8-7930-904D-ED25-B64D51FCA0D3}"/>
              </a:ext>
            </a:extLst>
          </p:cNvPr>
          <p:cNvSpPr txBox="1"/>
          <p:nvPr/>
        </p:nvSpPr>
        <p:spPr>
          <a:xfrm>
            <a:off x="4293969" y="5238789"/>
            <a:ext cx="6647974" cy="646331"/>
          </a:xfrm>
          <a:prstGeom prst="rect">
            <a:avLst/>
          </a:prstGeom>
          <a:noFill/>
        </p:spPr>
        <p:txBody>
          <a:bodyPr wrap="none" rtlCol="0">
            <a:spAutoFit/>
          </a:bodyPr>
          <a:lstStyle/>
          <a:p>
            <a:r>
              <a:rPr lang="zh-TW" altLang="en-US" sz="1800" dirty="0">
                <a:latin typeface="微軟正黑體" panose="020B0604030504040204" pitchFamily="34" charset="-120"/>
                <a:ea typeface="微軟正黑體" panose="020B0604030504040204" pitchFamily="34" charset="-120"/>
                <a:cs typeface="Times New Roman" panose="02020603050405020304" pitchFamily="18" charset="0"/>
              </a:rPr>
              <a:t>後續上傳位置</a:t>
            </a:r>
            <a:r>
              <a:rPr lang="en-US" altLang="zh-TW" sz="1800" dirty="0">
                <a:latin typeface="微軟正黑體" panose="020B0604030504040204" pitchFamily="34" charset="-120"/>
                <a:ea typeface="微軟正黑體" panose="020B0604030504040204" pitchFamily="34" charset="-120"/>
                <a:cs typeface="Times New Roman" panose="02020603050405020304" pitchFamily="18" charset="0"/>
              </a:rPr>
              <a:t>:</a:t>
            </a:r>
          </a:p>
          <a:p>
            <a:r>
              <a:rPr lang="zh-TW" altLang="en-US" sz="1800" dirty="0">
                <a:latin typeface="微軟正黑體" panose="020B0604030504040204" pitchFamily="34" charset="-120"/>
                <a:ea typeface="微軟正黑體" panose="020B0604030504040204" pitchFamily="34" charset="-120"/>
                <a:cs typeface="Times New Roman" panose="02020603050405020304" pitchFamily="18" charset="0"/>
              </a:rPr>
              <a:t>將新增一圖示，網站將放於該入口，</a:t>
            </a:r>
            <a:r>
              <a:rPr lang="zh-TW" altLang="en-US" sz="18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此部分待與綜企窗口確認，</a:t>
            </a:r>
          </a:p>
        </p:txBody>
      </p:sp>
      <p:sp>
        <p:nvSpPr>
          <p:cNvPr id="16" name="文字方塊 15">
            <a:extLst>
              <a:ext uri="{FF2B5EF4-FFF2-40B4-BE49-F238E27FC236}">
                <a16:creationId xmlns:a16="http://schemas.microsoft.com/office/drawing/2014/main" id="{D8913B03-637C-1984-D420-7556AD9E38A2}"/>
              </a:ext>
            </a:extLst>
          </p:cNvPr>
          <p:cNvSpPr txBox="1"/>
          <p:nvPr/>
        </p:nvSpPr>
        <p:spPr>
          <a:xfrm>
            <a:off x="374651" y="4431659"/>
            <a:ext cx="5975350" cy="307777"/>
          </a:xfrm>
          <a:prstGeom prst="rect">
            <a:avLst/>
          </a:prstGeom>
          <a:noFill/>
        </p:spPr>
        <p:txBody>
          <a:bodyPr wrap="square">
            <a:spAutoFit/>
          </a:bodyPr>
          <a:lstStyle/>
          <a:p>
            <a:r>
              <a:rPr lang="zh-TW" altLang="en-US" sz="1400" dirty="0">
                <a:solidFill>
                  <a:srgbClr val="0070C0"/>
                </a:solidFill>
              </a:rPr>
              <a:t>https://bank.sinopac.com/sinopacBT/index.html</a:t>
            </a:r>
          </a:p>
        </p:txBody>
      </p:sp>
    </p:spTree>
    <p:extLst>
      <p:ext uri="{BB962C8B-B14F-4D97-AF65-F5344CB8AC3E}">
        <p14:creationId xmlns:p14="http://schemas.microsoft.com/office/powerpoint/2010/main" val="2019839502"/>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24352</TotalTime>
  <Words>296</Words>
  <Application>Microsoft Office PowerPoint</Application>
  <PresentationFormat>自訂</PresentationFormat>
  <Paragraphs>37</Paragraphs>
  <Slides>6</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6</vt:i4>
      </vt:variant>
    </vt:vector>
  </HeadingPairs>
  <TitlesOfParts>
    <vt:vector size="13" baseType="lpstr">
      <vt:lpstr>Microsoft YaHei</vt:lpstr>
      <vt:lpstr>微軟正黑體</vt:lpstr>
      <vt:lpstr>Arial</vt:lpstr>
      <vt:lpstr>Calibri</vt:lpstr>
      <vt:lpstr>Times New Roman</vt:lpstr>
      <vt:lpstr>Wingdings</vt:lpstr>
      <vt:lpstr>Universal Template</vt:lpstr>
      <vt:lpstr>永豐防詐專區網頁切版調整</vt:lpstr>
      <vt:lpstr>需求</vt:lpstr>
      <vt:lpstr>PowerPoint 簡報</vt:lpstr>
      <vt:lpstr>PowerPoint 簡報</vt:lpstr>
      <vt:lpstr>PowerPoint 簡報</vt:lpstr>
      <vt:lpstr>PowerPoint 簡報</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莊瑄平-數位客群部-永豐銀行</cp:lastModifiedBy>
  <cp:revision>1687</cp:revision>
  <cp:lastPrinted>2023-02-06T04:03:41Z</cp:lastPrinted>
  <dcterms:created xsi:type="dcterms:W3CDTF">2005-10-04T01:34:02Z</dcterms:created>
  <dcterms:modified xsi:type="dcterms:W3CDTF">2024-04-18T10:53:18Z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